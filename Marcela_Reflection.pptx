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75f66a6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75f66a6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5f66a6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5f66a6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75f66a6f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75f66a6f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75f66a6f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75f66a6f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22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What I learned</a:t>
            </a:r>
            <a:endParaRPr>
              <a:latin typeface="Times New Roman"/>
              <a:ea typeface="Times New Roman"/>
              <a:cs typeface="Times New Roman"/>
              <a:sym typeface="Times New Roman"/>
            </a:endParaRPr>
          </a:p>
        </p:txBody>
      </p:sp>
      <p:sp>
        <p:nvSpPr>
          <p:cNvPr id="55" name="Google Shape;55;p13"/>
          <p:cNvSpPr txBox="1"/>
          <p:nvPr>
            <p:ph idx="1" type="body"/>
          </p:nvPr>
        </p:nvSpPr>
        <p:spPr>
          <a:xfrm>
            <a:off x="311700" y="796750"/>
            <a:ext cx="8520600" cy="37722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b="1" lang="en">
                <a:latin typeface="Times New Roman"/>
                <a:ea typeface="Times New Roman"/>
                <a:cs typeface="Times New Roman"/>
                <a:sym typeface="Times New Roman"/>
              </a:rPr>
              <a:t>Technical Skills:</a:t>
            </a:r>
            <a:endParaRPr b="1">
              <a:latin typeface="Times New Roman"/>
              <a:ea typeface="Times New Roman"/>
              <a:cs typeface="Times New Roman"/>
              <a:sym typeface="Times New Roman"/>
            </a:endParaRPr>
          </a:p>
          <a:p>
            <a:pPr indent="-291465" lvl="0" marL="457200" rtl="0" algn="l">
              <a:spcBef>
                <a:spcPts val="1200"/>
              </a:spcBef>
              <a:spcAft>
                <a:spcPts val="0"/>
              </a:spcAft>
              <a:buSzPct val="100000"/>
              <a:buFont typeface="Times New Roman"/>
              <a:buChar char="-"/>
            </a:pPr>
            <a:r>
              <a:rPr b="1" lang="en">
                <a:latin typeface="Times New Roman"/>
                <a:ea typeface="Times New Roman"/>
                <a:cs typeface="Times New Roman"/>
                <a:sym typeface="Times New Roman"/>
              </a:rPr>
              <a:t>I learned how to train a custom NER model on domain specific entities using informal Twitter data.</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I learned about how to interpret a model’s performance and how to improve the model as a whole using human labeled annotations.</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I learned how human labeled annotations directly improve model adaptation to different texts.</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After we added more targeted PER annotations our custom Model 2 had much higher recall which reinforced the value of domain specific annotations.</a:t>
            </a:r>
            <a:endParaRPr b="1">
              <a:latin typeface="Times New Roman"/>
              <a:ea typeface="Times New Roman"/>
              <a:cs typeface="Times New Roman"/>
              <a:sym typeface="Times New Roman"/>
            </a:endParaRPr>
          </a:p>
          <a:p>
            <a:pPr indent="0" lvl="0" marL="0" rtl="0" algn="l">
              <a:spcBef>
                <a:spcPts val="1200"/>
              </a:spcBef>
              <a:spcAft>
                <a:spcPts val="0"/>
              </a:spcAft>
              <a:buNone/>
            </a:pPr>
            <a:r>
              <a:rPr b="1" lang="en">
                <a:latin typeface="Times New Roman"/>
                <a:ea typeface="Times New Roman"/>
                <a:cs typeface="Times New Roman"/>
                <a:sym typeface="Times New Roman"/>
              </a:rPr>
              <a:t>Annotation Skills:</a:t>
            </a:r>
            <a:endParaRPr b="1">
              <a:latin typeface="Times New Roman"/>
              <a:ea typeface="Times New Roman"/>
              <a:cs typeface="Times New Roman"/>
              <a:sym typeface="Times New Roman"/>
            </a:endParaRPr>
          </a:p>
          <a:p>
            <a:pPr indent="-291465" lvl="0" marL="457200" rtl="0" algn="l">
              <a:spcBef>
                <a:spcPts val="1200"/>
              </a:spcBef>
              <a:spcAft>
                <a:spcPts val="0"/>
              </a:spcAft>
              <a:buSzPct val="100000"/>
              <a:buFont typeface="Times New Roman"/>
              <a:buChar char="-"/>
            </a:pPr>
            <a:r>
              <a:rPr b="1" lang="en">
                <a:latin typeface="Times New Roman"/>
                <a:ea typeface="Times New Roman"/>
                <a:cs typeface="Times New Roman"/>
                <a:sym typeface="Times New Roman"/>
              </a:rPr>
              <a:t>I learned about the importance of updating annotation guidelines and maintaining consistency when there are multiple annotators.</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We realized that even shared guidelines need constant refinement as edge cases come up</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We learned how to improve the ability to define clearer labeling decisions for ambiguous entities like usernames.</a:t>
            </a:r>
            <a:endParaRPr b="1">
              <a:latin typeface="Times New Roman"/>
              <a:ea typeface="Times New Roman"/>
              <a:cs typeface="Times New Roman"/>
              <a:sym typeface="Times New Roman"/>
            </a:endParaRPr>
          </a:p>
          <a:p>
            <a:pPr indent="0" lvl="0" marL="0" rtl="0" algn="l">
              <a:spcBef>
                <a:spcPts val="1200"/>
              </a:spcBef>
              <a:spcAft>
                <a:spcPts val="0"/>
              </a:spcAft>
              <a:buNone/>
            </a:pPr>
            <a:r>
              <a:rPr b="1" lang="en">
                <a:latin typeface="Times New Roman"/>
                <a:ea typeface="Times New Roman"/>
                <a:cs typeface="Times New Roman"/>
                <a:sym typeface="Times New Roman"/>
              </a:rPr>
              <a:t>Collaboration Skills:</a:t>
            </a:r>
            <a:endParaRPr b="1">
              <a:latin typeface="Times New Roman"/>
              <a:ea typeface="Times New Roman"/>
              <a:cs typeface="Times New Roman"/>
              <a:sym typeface="Times New Roman"/>
            </a:endParaRPr>
          </a:p>
          <a:p>
            <a:pPr indent="-291465" lvl="0" marL="457200" rtl="0" algn="l">
              <a:spcBef>
                <a:spcPts val="1200"/>
              </a:spcBef>
              <a:spcAft>
                <a:spcPts val="0"/>
              </a:spcAft>
              <a:buSzPct val="100000"/>
              <a:buFont typeface="Times New Roman"/>
              <a:buChar char="-"/>
            </a:pPr>
            <a:r>
              <a:rPr b="1" lang="en">
                <a:latin typeface="Times New Roman"/>
                <a:ea typeface="Times New Roman"/>
                <a:cs typeface="Times New Roman"/>
                <a:sym typeface="Times New Roman"/>
              </a:rPr>
              <a:t>Given the importance of having </a:t>
            </a:r>
            <a:r>
              <a:rPr b="1" lang="en">
                <a:latin typeface="Times New Roman"/>
                <a:ea typeface="Times New Roman"/>
                <a:cs typeface="Times New Roman"/>
                <a:sym typeface="Times New Roman"/>
              </a:rPr>
              <a:t>consistent</a:t>
            </a:r>
            <a:r>
              <a:rPr b="1" lang="en">
                <a:latin typeface="Times New Roman"/>
                <a:ea typeface="Times New Roman"/>
                <a:cs typeface="Times New Roman"/>
                <a:sym typeface="Times New Roman"/>
              </a:rPr>
              <a:t> annotations, there was a lot of communication and coordinating required between Fong and I. We discussed constantly to ensure we both agreed on the existence of certain entities.</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We also had to collaborate significantly on how we can improve the model.</a:t>
            </a:r>
            <a:endParaRPr b="1">
              <a:latin typeface="Times New Roman"/>
              <a:ea typeface="Times New Roman"/>
              <a:cs typeface="Times New Roman"/>
              <a:sym typeface="Times New Roman"/>
            </a:endParaRPr>
          </a:p>
          <a:p>
            <a:pPr indent="-291465"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This project also really showed me the importance of having an open mind and trying several approaches rather than just being tunnel minded on one approach. I was challenged to think in other ways and it really helped me understand the process more. </a:t>
            </a:r>
            <a:endParaRPr b="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Challenges &amp; Solutions</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Times New Roman"/>
              <a:buAutoNum type="arabicPeriod"/>
            </a:pPr>
            <a:r>
              <a:rPr lang="en">
                <a:latin typeface="Times New Roman"/>
                <a:ea typeface="Times New Roman"/>
                <a:cs typeface="Times New Roman"/>
                <a:sym typeface="Times New Roman"/>
              </a:rPr>
              <a:t>Informal spelling and capitalization within the Twitter text made it difficult for the model to detect entities.</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
                <a:latin typeface="Times New Roman"/>
                <a:ea typeface="Times New Roman"/>
                <a:cs typeface="Times New Roman"/>
                <a:sym typeface="Times New Roman"/>
              </a:rPr>
              <a:t>Our solution was to make sure that when we were annotating, the examples we set as ground truths contained the entities that we wanted the model to be able to recognize. Many of the `PER` entities are usernames so we wanted to make sure that we put sufficient examples into the training data.</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AutoNum type="arabicPeriod"/>
            </a:pPr>
            <a:r>
              <a:rPr lang="en">
                <a:latin typeface="Times New Roman"/>
                <a:ea typeface="Times New Roman"/>
                <a:cs typeface="Times New Roman"/>
                <a:sym typeface="Times New Roman"/>
              </a:rPr>
              <a:t>Since we used the Twitter dataset which contained primarily informal text and entities, it was quite hard to find the most meaningful texts to use as the ground truth for training.</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
                <a:latin typeface="Times New Roman"/>
                <a:ea typeface="Times New Roman"/>
                <a:cs typeface="Times New Roman"/>
                <a:sym typeface="Times New Roman"/>
              </a:rPr>
              <a:t>Our solution was to prioritze annotating reviews that actually contained multiple entities. This was especially important for the PER and LOC entities since the model struggled most with these. We went back and annotated more data, focusing on the quality of the annotation precedent, and after training our model on this additional more focused data we were able to improve the model.</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Peer Evaluation (Partner: Fong)</a:t>
            </a:r>
            <a:endParaRPr>
              <a:latin typeface="Times New Roman"/>
              <a:ea typeface="Times New Roman"/>
              <a:cs typeface="Times New Roman"/>
              <a:sym typeface="Times New Roman"/>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latin typeface="Times New Roman"/>
                <a:ea typeface="Times New Roman"/>
                <a:cs typeface="Times New Roman"/>
                <a:sym typeface="Times New Roman"/>
              </a:rPr>
              <a:t>Strengths:</a:t>
            </a:r>
            <a:endParaRPr b="1">
              <a:latin typeface="Times New Roman"/>
              <a:ea typeface="Times New Roman"/>
              <a:cs typeface="Times New Roman"/>
              <a:sym typeface="Times New Roman"/>
            </a:endParaRPr>
          </a:p>
          <a:p>
            <a:pPr indent="-334328" lvl="0" marL="457200" rtl="0" algn="l">
              <a:spcBef>
                <a:spcPts val="1200"/>
              </a:spcBef>
              <a:spcAft>
                <a:spcPts val="0"/>
              </a:spcAft>
              <a:buSzPct val="100000"/>
              <a:buFont typeface="Times New Roman"/>
              <a:buChar char="-"/>
            </a:pPr>
            <a:r>
              <a:rPr b="1" lang="en">
                <a:latin typeface="Times New Roman"/>
                <a:ea typeface="Times New Roman"/>
                <a:cs typeface="Times New Roman"/>
                <a:sym typeface="Times New Roman"/>
              </a:rPr>
              <a:t>Fong was a very strong </a:t>
            </a:r>
            <a:r>
              <a:rPr b="1" lang="en">
                <a:latin typeface="Times New Roman"/>
                <a:ea typeface="Times New Roman"/>
                <a:cs typeface="Times New Roman"/>
                <a:sym typeface="Times New Roman"/>
              </a:rPr>
              <a:t>collaborator</a:t>
            </a:r>
            <a:r>
              <a:rPr b="1" lang="en">
                <a:latin typeface="Times New Roman"/>
                <a:ea typeface="Times New Roman"/>
                <a:cs typeface="Times New Roman"/>
                <a:sym typeface="Times New Roman"/>
              </a:rPr>
              <a:t> and communicator throughout the entire process.</a:t>
            </a:r>
            <a:endParaRPr b="1">
              <a:latin typeface="Times New Roman"/>
              <a:ea typeface="Times New Roman"/>
              <a:cs typeface="Times New Roman"/>
              <a:sym typeface="Times New Roman"/>
            </a:endParaRPr>
          </a:p>
          <a:p>
            <a:pPr indent="-334328" lvl="0" marL="457200" rtl="0" algn="l">
              <a:spcBef>
                <a:spcPts val="0"/>
              </a:spcBef>
              <a:spcAft>
                <a:spcPts val="0"/>
              </a:spcAft>
              <a:buSzPct val="100000"/>
              <a:buFont typeface="Times New Roman"/>
              <a:buChar char="-"/>
            </a:pPr>
            <a:r>
              <a:rPr b="1" lang="en">
                <a:latin typeface="Times New Roman"/>
                <a:ea typeface="Times New Roman"/>
                <a:cs typeface="Times New Roman"/>
                <a:sym typeface="Times New Roman"/>
              </a:rPr>
              <a:t>Researched ways to improve our model performance given the niche dataset and the challenges it presented.</a:t>
            </a:r>
            <a:endParaRPr b="1">
              <a:latin typeface="Times New Roman"/>
              <a:ea typeface="Times New Roman"/>
              <a:cs typeface="Times New Roman"/>
              <a:sym typeface="Times New Roman"/>
            </a:endParaRPr>
          </a:p>
          <a:p>
            <a:pPr indent="0" lvl="0" marL="0" rtl="0" algn="l">
              <a:spcBef>
                <a:spcPts val="1200"/>
              </a:spcBef>
              <a:spcAft>
                <a:spcPts val="0"/>
              </a:spcAft>
              <a:buNone/>
            </a:pPr>
            <a:r>
              <a:t/>
            </a:r>
            <a:endParaRPr b="1">
              <a:latin typeface="Times New Roman"/>
              <a:ea typeface="Times New Roman"/>
              <a:cs typeface="Times New Roman"/>
              <a:sym typeface="Times New Roman"/>
            </a:endParaRPr>
          </a:p>
          <a:p>
            <a:pPr indent="0" lvl="0" marL="0" rtl="0" algn="l">
              <a:spcBef>
                <a:spcPts val="1200"/>
              </a:spcBef>
              <a:spcAft>
                <a:spcPts val="0"/>
              </a:spcAft>
              <a:buNone/>
            </a:pPr>
            <a:r>
              <a:rPr b="1" lang="en">
                <a:latin typeface="Times New Roman"/>
                <a:ea typeface="Times New Roman"/>
                <a:cs typeface="Times New Roman"/>
                <a:sym typeface="Times New Roman"/>
              </a:rPr>
              <a:t>One area for improvement if we had additional time could be to annotate more texts to help the model be more domain specific for the Twitter data.</a:t>
            </a:r>
            <a:endParaRPr b="1">
              <a:latin typeface="Times New Roman"/>
              <a:ea typeface="Times New Roman"/>
              <a:cs typeface="Times New Roman"/>
              <a:sym typeface="Times New Roman"/>
            </a:endParaRPr>
          </a:p>
          <a:p>
            <a:pPr indent="0" lvl="0" marL="0" rtl="0" algn="l">
              <a:spcBef>
                <a:spcPts val="1200"/>
              </a:spcBef>
              <a:spcAft>
                <a:spcPts val="0"/>
              </a:spcAft>
              <a:buNone/>
            </a:pPr>
            <a:r>
              <a:t/>
            </a:r>
            <a:endParaRPr b="1">
              <a:latin typeface="Times New Roman"/>
              <a:ea typeface="Times New Roman"/>
              <a:cs typeface="Times New Roman"/>
              <a:sym typeface="Times New Roman"/>
            </a:endParaRPr>
          </a:p>
          <a:p>
            <a:pPr indent="0" lvl="0" marL="0" rtl="0" algn="l">
              <a:spcBef>
                <a:spcPts val="1200"/>
              </a:spcBef>
              <a:spcAft>
                <a:spcPts val="1200"/>
              </a:spcAft>
              <a:buNone/>
            </a:pPr>
            <a:r>
              <a:rPr b="1" lang="en">
                <a:latin typeface="Times New Roman"/>
                <a:ea typeface="Times New Roman"/>
                <a:cs typeface="Times New Roman"/>
                <a:sym typeface="Times New Roman"/>
              </a:rPr>
              <a:t>Overall Contribution rating: 10/10</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Assignment Recommendations</a:t>
            </a:r>
            <a:endParaRPr>
              <a:latin typeface="Times New Roman"/>
              <a:ea typeface="Times New Roman"/>
              <a:cs typeface="Times New Roman"/>
              <a:sym typeface="Times New Roman"/>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Label Studio was not super intuitive to use so it would have been nice to have a bit more demonstration before starting the project, especially since it is the most important part for Assignment 4.</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The instructions were a bit confusing to follow a clear workflow and when I would reference the Github examples I’d get confused because it contains multiple models. I think having a clear set of steps would make it a bit easier to follow.</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It would also be useful to have more general guidance on annotations as Fong and I had to go back multiple times to fix things after the fact.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